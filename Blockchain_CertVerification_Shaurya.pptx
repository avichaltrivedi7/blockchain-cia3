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-914400" y="3200400"/>
            <a:ext cx="5486400" cy="4114800"/>
          </a:xfrm>
          <a:prstGeom prst="ellipse">
            <a:avLst/>
          </a:prstGeom>
          <a:solidFill>
            <a:srgbClr val="00C8FF">
              <a:alpha val="6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-914400"/>
            <a:ext cx="5486400" cy="4572000"/>
          </a:xfrm>
          <a:prstGeom prst="ellipse">
            <a:avLst/>
          </a:prstGeom>
          <a:solidFill>
            <a:srgbClr val="7B5CFF">
              <a:alpha val="7000"/>
            </a:srgbClr>
          </a:solidFill>
          <a:ln w="12700">
            <a:solidFill>
              <a:srgbClr val="7B5C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640080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00C8FF">
              <a:alpha val="15000"/>
            </a:srgbClr>
          </a:solidFill>
          <a:ln w="9525">
            <a:solidFill>
              <a:srgbClr val="00C8FF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00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BLOCKCHAIN  ·  OCT 2026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" y="566928"/>
            <a:ext cx="3017520" cy="256032"/>
          </a:xfrm>
          <a:prstGeom prst="roundRect">
            <a:avLst>
              <a:gd name="adj" fmla="val 5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669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BLOCKCHAIN  ·  OCT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10058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
</a:t>
            </a:r>
            <a:pPr indent="0" marL="0">
              <a:buNone/>
            </a:pPr>
            <a:r>
              <a:rPr lang="en-US" sz="4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</a:t>
            </a:r>
            <a:pPr indent="0" marL="0">
              <a:buNone/>
            </a:pPr>
            <a:r>
              <a:rPr lang="en-US" sz="4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4200" dirty="0"/>
          </a:p>
        </p:txBody>
      </p:sp>
      <p:sp>
        <p:nvSpPr>
          <p:cNvPr id="37" name="Shape 35"/>
          <p:cNvSpPr/>
          <p:nvPr/>
        </p:nvSpPr>
        <p:spPr>
          <a:xfrm>
            <a:off x="457200" y="3703320"/>
            <a:ext cx="3200400" cy="0"/>
          </a:xfrm>
          <a:prstGeom prst="line">
            <a:avLst/>
          </a:prstGeom>
          <a:noFill/>
          <a:ln w="31750">
            <a:solidFill>
              <a:srgbClr val="00C8FF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11880" y="3703320"/>
            <a:ext cx="1371600" cy="0"/>
          </a:xfrm>
          <a:prstGeom prst="line">
            <a:avLst/>
          </a:prstGeom>
          <a:noFill/>
          <a:ln w="31750">
            <a:solidFill>
              <a:srgbClr val="7B5CFF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tamper-proof, on-chain credential system built on Ethereum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fake certificates forever.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4846320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51560" y="4846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Kalra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51560" y="510235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Data Science &amp; AI  ·  5 BDA  ·  Reg. 24215223  ·  Christ University Delhi NCR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#0x8f3a...d729  ·  Gas: 21,000  ·  Network: Sepolia Testnet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Certificate</a:t>
            </a:r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Crisis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371600" y="2423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&amp; Easily Forged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274320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certificates are paper or PDF documents stored on central servers — trivially edited, duplicated, and submitted fraudulently.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65760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371600" y="3794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Slow &amp; Manual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71600" y="411480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call institutions, wait for replies, and often can't confirm international credentials at all — a process that takes days.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580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371600" y="5166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Economic Damage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371600" y="548640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Globally, credential fraud costs organisations billions annually. Indian university degree fraud is a documented, growing concern.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ledger where data is stored in linked blocks — immutable, decentralised, and transparent.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97280" y="26517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4A628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4A628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1887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88720" y="2999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88720" y="32461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0x000...000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88720" y="34107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0x8f3a...d72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886200" y="3383280"/>
            <a:ext cx="77724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2918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5CFF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6517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2999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#C001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32461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0x8f3a...d72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46320" y="34107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0x2c9f...b44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543800" y="3383280"/>
            <a:ext cx="77724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32918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5CFF"/>
                </a:solidFill>
              </a:rPr>
              <a:t>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12480" y="26517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7B5C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7B5CF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5039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2999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#C002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324612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prev: 0x2c9f...b44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503920" y="341071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hash: 0xa17e...c8f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943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94360" y="5257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94360" y="5577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cannot be altered once written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389120" y="46634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262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4526280" y="5257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26280" y="5577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control or failure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321040" y="46634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84582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8458200" y="5257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458200" y="5577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verifiable by anyone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</a:t>
            </a:r>
            <a:pPr indent="0" marL="0">
              <a:buNone/>
            </a:pPr>
            <a:r>
              <a:rPr lang="en-US" sz="28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720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Self-executing programs stored on the blockchain. Code is law — they run exactly as written, with no middlemen.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2880360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" y="288036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Solidity — compiled to EVM bytecode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355848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558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" y="3355848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Ethereum — gets a permanent contract address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831336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831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" y="3831336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via transactions — each call recorded on-chain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306824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3068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" y="4306824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same inputs, same output, always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21945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304288"/>
            <a:ext cx="5212080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SPDX-License-Identifier: MIT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pragma solidity ^0.8.0;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HelloWorld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public message;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"Hello, Ethereum!";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setMessage(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memory _msg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public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 = _msg;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7B5C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7B5CF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" y="2377440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1520" y="25786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Decentralised Certificate Verification System on Ethereum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7200" y="32461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" y="336499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0C8FF">
              <a:alpha val="18000"/>
            </a:srgbClr>
          </a:solidFill>
          <a:ln w="9525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364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" y="36576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contract with issue, verify, and revoke functions — all on-chain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32461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7B5C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7B5CFF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53712" y="336499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7B5CFF">
              <a:alpha val="18000"/>
            </a:srgbClr>
          </a:solidFill>
          <a:ln w="9525">
            <a:solidFill>
              <a:srgbClr val="7B5CFF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3712" y="3364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53712" y="36576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deployer (admin) can issue or revoke — enforced by modifier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21040" y="324612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FF9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FF9F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85632" y="336499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00FF9F">
              <a:alpha val="18000"/>
            </a:srgbClr>
          </a:solidFill>
          <a:ln w="9525">
            <a:solidFill>
              <a:srgbClr val="00FF9F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3364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85632" y="36576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in the world can verify a certificate — no login, no trust required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846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0C8FF">
              <a:alpha val="13000"/>
            </a:srgbClr>
          </a:solidFill>
          <a:ln w="9525">
            <a:solidFill>
              <a:srgbClr val="00C8FF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88920" y="4846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7B5CFF">
              <a:alpha val="13000"/>
            </a:srgbClr>
          </a:solidFill>
          <a:ln w="9525">
            <a:solidFill>
              <a:srgbClr val="7B5CFF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8892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120640" y="4846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0FF9F">
              <a:alpha val="13000"/>
            </a:srgbClr>
          </a:solidFill>
          <a:ln w="9525">
            <a:solidFill>
              <a:srgbClr val="00FF9F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52360" y="4846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00C8FF">
              <a:alpha val="13000"/>
            </a:srgbClr>
          </a:solidFill>
          <a:ln w="9525">
            <a:solidFill>
              <a:srgbClr val="00C8FF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784080" y="4846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7B5CFF">
              <a:alpha val="13000"/>
            </a:srgbClr>
          </a:solidFill>
          <a:ln w="9525">
            <a:solidFill>
              <a:srgbClr val="7B5CFF">
                <a:alpha val="4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84080" y="4846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365760" y="237744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4A628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4A628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254203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University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Issuer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26080" y="237744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4A628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4A628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17520" y="254203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🦊 MetaMask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/ Signing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237744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77840" y="254203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Remix 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Call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2834640"/>
            <a:ext cx="2286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7432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12080" y="2834640"/>
            <a:ext cx="2286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27432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</a:rPr>
              <a:t>▶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29400" y="3291840"/>
            <a:ext cx="0" cy="45720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703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</a:rPr>
              <a:t>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931920"/>
            <a:ext cx="3657600" cy="1005840"/>
          </a:xfrm>
          <a:prstGeom prst="roundRect">
            <a:avLst>
              <a:gd name="adj" fmla="val 9091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7B5C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7B5CFF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37760" y="4041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Smart Contract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37760" y="43159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CertificateVerification.sol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451713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0x7Fa9...3C2E  (Sepolia)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0" y="4937760"/>
            <a:ext cx="0" cy="32004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5230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</a:rPr>
              <a:t>▼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389120" y="5440680"/>
            <a:ext cx="4389120" cy="777240"/>
          </a:xfrm>
          <a:prstGeom prst="roundRect">
            <a:avLst>
              <a:gd name="adj" fmla="val 1176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FF9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FF9F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72000" y="55961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Ethereum Blockchain — Distributed Ledger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5760" y="5440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Graduate  →  Queries certId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58338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Employer  →  Verifies on-chain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566160" y="5824728"/>
            <a:ext cx="777240" cy="0"/>
          </a:xfrm>
          <a:prstGeom prst="line">
            <a:avLst/>
          </a:prstGeom>
          <a:noFill/>
          <a:ln w="12700">
            <a:solidFill>
              <a:srgbClr val="4A62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573328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80"/>
                </a:solidFill>
              </a:rPr>
              <a:t>▶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7200" y="22860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stores certificates in a mapping, enforces admin-only writes, and exposes public reads.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26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Struct: Certificate holds name, course, date, validity flag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4747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" y="34747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Mapping: certId → Certificate struct (private storage)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23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⚡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" y="4023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Issued and Revoked emit on-chain logs for auditability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5720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72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" y="4572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Modifier: onlyAdmin guards all write functions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219456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304288"/>
            <a:ext cx="521208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SPDX-License-Identifier: MIT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pragma solidity ^0.8.0;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CertificateVerification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public admin;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Certificate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recipientName;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courseName;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issueDate;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  isValid;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  exists;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mapping(string =&gt; Certificate)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certificates;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 CertificateIssued(...);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 CertificateRevoked(...);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modifier onlyAdmin()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require(msg.sender == admin);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DEEP-DIVE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issueCertificate()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5577840" cy="2743200"/>
          </a:xfrm>
          <a:prstGeom prst="roundRect">
            <a:avLst>
              <a:gd name="adj" fmla="val 3333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23957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issueCertificate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278892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Takes: certId, recipientName, courseName, issueDate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17296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Checks: certId must not already exist (prevents duplicates)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55701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Writes: new Certificate struct to the mapping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94106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Emits: CertificateIssued event on-chain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32511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Access: onlyAdmin — not callable by anyone else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466344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4D6A">
              <a:alpha val="15000"/>
            </a:srgbClr>
          </a:solidFill>
          <a:ln w="9525">
            <a:solidFill>
              <a:srgbClr val="FF4D6A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6634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onlyAdmin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" y="49377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Cost ≈ 65,000 gwei  ·  Permanently recorded on-chain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219456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304288"/>
            <a:ext cx="521208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issueCertificate(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memory certId,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memory recipientName,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memory courseName,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memory issueDate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public onlyAdmin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!certificates[certId].exists,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 already exists"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certificates[certId] = Certificate({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recipientName: recipientName,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courseName:    courseName,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issueDate:     issueDate,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isValid:      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exists:       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 CertificateIssued(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certId, recipientName, courseName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DEEP-DIVE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verifyCertificate()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23957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verifyCertificate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278892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Takes: certId (just a string)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17296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Checks: certificate must exist in the mapping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55701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Returns: name, course, issueDate, isValid flag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94106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Cost: FREE — view functions cost zero gas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06908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0C8FF">
              <a:alpha val="18000"/>
            </a:srgbClr>
          </a:solidFill>
          <a:ln w="9525">
            <a:solidFill>
              <a:srgbClr val="00C8FF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06908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view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5577840" cy="1554480"/>
          </a:xfrm>
          <a:prstGeom prst="roundRect">
            <a:avLst>
              <a:gd name="adj" fmla="val 5882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FF9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FF9F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452628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" y="47548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   "Shaurya Kalra"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course:  "BSc Data Science"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   "2026-09-30"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isValid: true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219456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2304288"/>
            <a:ext cx="521208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verifyCertificate(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memory certId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returns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memory,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memory,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memory,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certificates[certId].exists,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"Certificate not found"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Certificate memory cert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certificates[certId];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cert.recipientName,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cert.courseName,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cert.issueDate,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cert.isValid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DEEP-DIVE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revokeCertificate()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457200" y="22860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FF4D6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FF4D6A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23957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revokeCertificate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2788920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Takes: certId of the certificate to revoke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172968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Checks: certificate must already exist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557016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Sets: isValid = false (does NOT delete the record)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94106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Emits: CertificateRevoked event on-chain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32511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Access: onlyAdmin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709160"/>
            <a:ext cx="5577840" cy="1280160"/>
          </a:xfrm>
          <a:prstGeom prst="roundRect">
            <a:avLst>
              <a:gd name="adj" fmla="val 7143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FFB34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FFB34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482803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not delete?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5120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append-only. Setting isValid=false preserves the history while marking the cert invalid — the audit trail stays intact forever.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19456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2304288"/>
            <a:ext cx="5212080" cy="416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revokeCertificate(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memory certId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public onlyAdmin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certificates[certId].exists,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"Certificate not found"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Mark invalid — history preserved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certificates[certId].isValid = false;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emit CertificateRevoked(certId);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revocation: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verifyCertificate still returns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record but isValid → false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2331720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" y="2331720"/>
            <a:ext cx="1089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Remix IDE — paste CertificateVerification.sol into a new file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2807208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07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" y="2807208"/>
            <a:ext cx="1089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— Solidity compiler 0.8.x, check for the green tick 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282696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" y="3282696"/>
            <a:ext cx="1089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Environment → Injected Provider (MetaMask) → Deploy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758184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58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" y="3758184"/>
            <a:ext cx="1089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issueCertificate — Input: "CERT001", "Shaurya Kalra", "BSc DS&amp;AI", "2026-09-30"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233672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" y="4233672"/>
            <a:ext cx="1089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verifyCertificate — Input: "CERT001" → Returns all fields + isValid: true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709160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709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" y="4709160"/>
            <a:ext cx="1089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revokeCertificate — Input: "CERT001" → Verify again → isValid: false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5778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0FF9F">
              <a:alpha val="14000"/>
            </a:srgbClr>
          </a:solidFill>
          <a:ln w="9525">
            <a:solidFill>
              <a:srgbClr val="00FF9F">
                <a:alpha val="4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Issue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91840" y="55778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00C8FF">
              <a:alpha val="14000"/>
            </a:srgbClr>
          </a:solidFill>
          <a:ln w="9525">
            <a:solidFill>
              <a:srgbClr val="00C8FF">
                <a:alpha val="4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0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26480" y="55778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F4D6A">
              <a:alpha val="14000"/>
            </a:srgbClr>
          </a:solidFill>
          <a:ln w="9525">
            <a:solidFill>
              <a:srgbClr val="FF4D6A">
                <a:alpha val="4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Revoke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961120" y="557784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7B5CFF">
              <a:alpha val="14000"/>
            </a:srgbClr>
          </a:solidFill>
          <a:ln w="9525">
            <a:solidFill>
              <a:srgbClr val="7B5CFF">
                <a:alpha val="48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61120" y="5577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 Sepolia Testnet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</a:t>
            </a:r>
            <a:pPr indent="0" marL="0">
              <a:buNone/>
            </a:pPr>
            <a:r>
              <a:rPr lang="en-US" sz="28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</a:t>
            </a:r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2331720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331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" y="2331720"/>
            <a:ext cx="532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MetaMask → Switch network to Sepolia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2807208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07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4672" y="2807208"/>
            <a:ext cx="532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free test ETH from sepoliafaucet.com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282696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" y="3282696"/>
            <a:ext cx="532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Remix: Environment → Injected Provider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758184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581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4672" y="3758184"/>
            <a:ext cx="532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Deploy → Confirm MetaMask popup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233672"/>
            <a:ext cx="256032" cy="25603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233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" y="4233672"/>
            <a:ext cx="5321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contract address from Deployed Contracts panel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029200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0080" y="513892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" y="537667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ID:  11155111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RPC:       sepolia.infura.io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Explorer:  sepolia.etherscan.io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23317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7B5C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7B5CFF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92240" y="245059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TESTNET?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92240" y="26974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is Ethereum's official test network — identical to mainnet but uses free test ETH. Deploy and test without spending real money.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309360" y="4297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FF9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FF9F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92240" y="44165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TRANSACTION MINED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92240" y="47365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    Success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 Used:   341,892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Block:      #7,429,831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Etherscan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57200" y="2240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publicly visible on Etherscan — the blockchain's read receipt. No trust required.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2697480"/>
            <a:ext cx="11247120" cy="3703320"/>
          </a:xfrm>
          <a:prstGeom prst="roundRect">
            <a:avLst>
              <a:gd name="adj" fmla="val 2469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" y="2907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29077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0x9a3f82c1d5e7b40f29c6a1e8d3b5f7a2c9e4d1b8...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236976"/>
            <a:ext cx="11247120" cy="420624"/>
          </a:xfrm>
          <a:prstGeom prst="rect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332841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Success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83280" y="37490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7429831 (3 block confirmations)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078224"/>
            <a:ext cx="11247120" cy="420624"/>
          </a:xfrm>
          <a:prstGeom prst="rect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169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416966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0x742d...e80a  (Admin Wallet)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5902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3280" y="45902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0x7Fa9...3C2E  (CertificateVerification)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919472"/>
            <a:ext cx="11247120" cy="420624"/>
          </a:xfrm>
          <a:prstGeom prst="rect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010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83280" y="50109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issueCertificate(certId, recipientName, courseName, issueDate)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5431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Used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383280" y="5431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65,042 / 80,000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5760720"/>
            <a:ext cx="11247120" cy="420624"/>
          </a:xfrm>
          <a:prstGeom prst="rect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852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83280" y="5852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 Testnet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</a:t>
            </a:r>
            <a:pPr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23317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21792" y="3044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" y="33558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data cannot be edited or deleted — ever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23317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FF9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FF9F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5371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553712" y="3044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Verify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53712" y="33558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vs days for manual HR verification calls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21040" y="233172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7B5C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7B5CFF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485632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485632" y="3044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Access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485632" y="33558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 across borders without institutions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3434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FFB34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FFB34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1792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21792" y="5056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1792" y="5367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 cent per certificate on L2 chains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89120" y="43434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553712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4553712" y="5056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53712" y="5367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degree and course completion certificates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21040" y="43434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FF9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FF9F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485632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485632" y="50566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485632" y="5367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compliance, and professional certifications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1325880"/>
            <a:ext cx="201168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</a:t>
            </a:r>
            <a:pPr indent="0" marL="0">
              <a:buNone/>
            </a:pPr>
            <a:r>
              <a:rPr lang="en-US" sz="2800" b="1" dirty="0">
                <a:solidFill>
                  <a:srgbClr val="7B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233172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FF4D6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FF4D6A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front-end UI — currently Remix CLI only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3493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Gas costs on Ethereum mainnet can be high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0599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Certificate data stored as plain strings — no encryption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6268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Admin is a single wallet — no multi-sig yet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51937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IPFS for large certificate documents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233172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FF9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FF9F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React.js + ethers.js front-end dApp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3493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Deploy on Polygon L2 for near-zero gas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40599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IPFS storage for full certificate PDFs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46268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QR code generation for easy sharing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92240" y="51937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Multi-admin with role-based access control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9224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ZK-proofs for privacy-preserving verification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7315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29260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12064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85216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6583680"/>
            <a:ext cx="12188952" cy="0"/>
          </a:xfrm>
          <a:prstGeom prst="line">
            <a:avLst/>
          </a:prstGeom>
          <a:noFill/>
          <a:ln w="6350">
            <a:solidFill>
              <a:srgbClr val="00C8FF">
                <a:alpha val="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81360" y="1645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16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0" y="914400"/>
            <a:ext cx="8229600" cy="5486400"/>
          </a:xfrm>
          <a:prstGeom prst="ellipse">
            <a:avLst/>
          </a:prstGeom>
          <a:solidFill>
            <a:srgbClr val="7B5CFF">
              <a:alpha val="4000"/>
            </a:srgbClr>
          </a:solidFill>
          <a:ln w="12700">
            <a:solidFill>
              <a:srgbClr val="7B5C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548640"/>
            <a:ext cx="5577840" cy="292608"/>
          </a:xfrm>
          <a:prstGeom prst="roundRect">
            <a:avLst>
              <a:gd name="adj" fmla="val 50000"/>
            </a:avLst>
          </a:prstGeom>
          <a:solidFill>
            <a:srgbClr val="00C8FF">
              <a:alpha val="12000"/>
            </a:srgbClr>
          </a:solidFill>
          <a:ln w="9525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54864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Built on Ethereum  ·  Powered by Solidity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🙌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3200400" y="2057400"/>
            <a:ext cx="2743200" cy="0"/>
          </a:xfrm>
          <a:prstGeom prst="line">
            <a:avLst/>
          </a:prstGeom>
          <a:noFill/>
          <a:ln w="31750">
            <a:solidFill>
              <a:srgbClr val="00C8FF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057400"/>
            <a:ext cx="1645920" cy="0"/>
          </a:xfrm>
          <a:prstGeom prst="line">
            <a:avLst/>
          </a:prstGeom>
          <a:noFill/>
          <a:ln w="31750">
            <a:solidFill>
              <a:srgbClr val="7B5CFF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tamper-proof future for credentials, one smart contract at a time.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0" y="274320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60720" y="2788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Kalra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760720" y="310896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Data Science &amp; AI  ·  5 BDA  ·  Reg. 24215223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33284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University Delhi NCR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931920"/>
            <a:ext cx="3566160" cy="749808"/>
          </a:xfrm>
          <a:prstGeom prst="roundRect">
            <a:avLst>
              <a:gd name="adj" fmla="val 1219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" y="4023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4279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70832" y="3931920"/>
            <a:ext cx="3566160" cy="749808"/>
          </a:xfrm>
          <a:prstGeom prst="roundRect">
            <a:avLst>
              <a:gd name="adj" fmla="val 1219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07992" y="4023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07992" y="4279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84464" y="3931920"/>
            <a:ext cx="3566160" cy="749808"/>
          </a:xfrm>
          <a:prstGeom prst="roundRect">
            <a:avLst>
              <a:gd name="adj" fmla="val 1219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421624" y="4023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421624" y="42793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4846320"/>
            <a:ext cx="3566160" cy="749808"/>
          </a:xfrm>
          <a:prstGeom prst="roundRect">
            <a:avLst>
              <a:gd name="adj" fmla="val 1219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94360" y="49377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4360" y="5193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370832" y="4846320"/>
            <a:ext cx="3566160" cy="749808"/>
          </a:xfrm>
          <a:prstGeom prst="roundRect">
            <a:avLst>
              <a:gd name="adj" fmla="val 1219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507992" y="49377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07992" y="5193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· verify · revoke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284464" y="4846320"/>
            <a:ext cx="3566160" cy="749808"/>
          </a:xfrm>
          <a:prstGeom prst="roundRect">
            <a:avLst>
              <a:gd name="adj" fmla="val 12195"/>
            </a:avLst>
          </a:prstGeom>
          <a:solidFill>
            <a:srgbClr val="0A1628">
              <a:alpha val="90000"/>
            </a:srgbClr>
          </a:solidFill>
          <a:ln w="12700">
            <a:solidFill>
              <a:srgbClr val="00C8FF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C8FF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421624" y="49377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21624" y="5193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11247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Decentralised Certificate Verification System  ·  Smart Contract on Ethereum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0" y="6675120"/>
            <a:ext cx="12188952" cy="0"/>
          </a:xfrm>
          <a:prstGeom prst="line">
            <a:avLst/>
          </a:prstGeom>
          <a:noFill/>
          <a:ln w="12700">
            <a:solidFill>
              <a:srgbClr val="00C8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2026-09-30T15:03:30Z</dcterms:created>
  <dcterms:modified xsi:type="dcterms:W3CDTF">2026-09-30T15:03:30Z</dcterms:modified>
</cp:coreProperties>
</file>